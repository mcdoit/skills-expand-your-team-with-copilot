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of it as adding a junior developer to your team who never sleeps. You write a clear issue, assign it, and Copilot handles the coding while you focus on other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assign → PR → review → merge flow. Emphasize that @copilot in comments triggers new sessions, while regular comments (without @copilot) are ignored by the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Custom instructions = onboarding docs for your AI teammate. Setup workflow = pre-configured dev machine. Agents Panel = mission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reinforcing that this isn't uncontrolled AI — every change goes through standard code review. The exercise takes less than 1 hour and gives hands-on experience with the full agent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58A6FF"/>
                </a:solidFill>
                <a:latin typeface="Calibri"/>
              </a:rPr>
              <a:t>🤖  What Is the Copilot Coding Agent?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300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  <a:latin typeface="Calibri"/>
              </a:rPr>
              <a:t>From code editor to autopilot: Copilot now works directly on GitHub — no IDE required.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FB950"/>
                </a:solidFill>
                <a:latin typeface="Calibri"/>
              </a:rPr>
              <a:t>Copilot in the Editor  vs.  Copilot Coding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4884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  <a:r>
              <a:rPr sz="1500">
                <a:solidFill>
                  <a:srgbClr val="FFFFFF"/>
                </a:solidFill>
                <a:latin typeface="Calibri"/>
              </a:rPr>
              <a:t>  Interface         Editor: Code editor                           Agent: Issues &amp; Pull Requests</a:t>
            </a:r>
          </a:p>
          <a:p>
            <a:r>
              <a:rPr sz="1500">
                <a:solidFill>
                  <a:srgbClr val="FFFFFF"/>
                </a:solidFill>
                <a:latin typeface="Calibri"/>
              </a:rPr>
              <a:t>  Scope             Editor: Local files                           Agent: Entire repository</a:t>
            </a:r>
          </a:p>
          <a:p>
            <a:r>
              <a:rPr sz="1500">
                <a:solidFill>
                  <a:srgbClr val="FFFFFF"/>
                </a:solidFill>
                <a:latin typeface="Calibri"/>
              </a:rPr>
              <a:t>  Activation        Editor: Chat / inline suggestions             Agent: Assign issue to @copilot</a:t>
            </a:r>
          </a:p>
          <a:p>
            <a:r>
              <a:rPr sz="1500">
                <a:solidFill>
                  <a:srgbClr val="FFFFFF"/>
                </a:solidFill>
                <a:latin typeface="Calibri"/>
              </a:rPr>
              <a:t>  MCP Support       Editor: ✅                                     Agent: 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023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  <a:latin typeface="Calibri"/>
              </a:rPr>
              <a:t>Key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3891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Anyone with write access can assign a GitHub Issue to Copilot. It creates a branch, opens a PR, implements code, and requests your review — like a human teammate.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58A6FF"/>
                </a:solidFill>
                <a:latin typeface="Calibri"/>
              </a:rPr>
              <a:t>The Workflow: Assign → Review → Merge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300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1.  📝  Write a clear issue — with goal &amp; acceptance criteria</a:t>
            </a:r>
          </a:p>
          <a:p>
            <a:pPr/>
            <a:r>
              <a:rPr sz="1500" b="0">
                <a:solidFill>
                  <a:srgbClr val="FFFFFF"/>
                </a:solidFill>
                <a:latin typeface="Calibri"/>
              </a:rPr>
              <a:t>2.  👤  Assign to Copilot — select Copilot in the Assignees dropdown</a:t>
            </a:r>
          </a:p>
          <a:p>
            <a:pPr/>
            <a:r>
              <a:rPr sz="1500" b="0">
                <a:solidFill>
                  <a:srgbClr val="FFFFFF"/>
                </a:solidFill>
                <a:latin typeface="Calibri"/>
              </a:rPr>
              <a:t>3.  🤖  Copilot creates a branch &amp; PR — works inside a GitHub Actions session</a:t>
            </a:r>
          </a:p>
          <a:p>
            <a:pPr/>
            <a:r>
              <a:rPr sz="1500" b="0">
                <a:solidFill>
                  <a:srgbClr val="FFFFFF"/>
                </a:solidFill>
                <a:latin typeface="Calibri"/>
              </a:rPr>
              <a:t>4.  👀  Watch progress live — session logs stream in real-time</a:t>
            </a:r>
          </a:p>
          <a:p>
            <a:pPr/>
            <a:r>
              <a:rPr sz="1500" b="0">
                <a:solidFill>
                  <a:srgbClr val="FFFFFF"/>
                </a:solidFill>
                <a:latin typeface="Calibri"/>
              </a:rPr>
              <a:t>5.  💬  Give feedback — use @copilot in PR review comments</a:t>
            </a:r>
          </a:p>
          <a:p>
            <a:pPr/>
            <a:r>
              <a:rPr sz="1500" b="0">
                <a:solidFill>
                  <a:srgbClr val="FFFFFF"/>
                </a:solidFill>
                <a:latin typeface="Calibri"/>
              </a:rPr>
              <a:t>6.  🔄  Iterate — Copilot implements feedback, you re-review</a:t>
            </a:r>
          </a:p>
          <a:p>
            <a:pPr/>
            <a:r>
              <a:rPr sz="1500" b="0">
                <a:solidFill>
                  <a:srgbClr val="FFFFFF"/>
                </a:solidFill>
                <a:latin typeface="Calibri"/>
              </a:rPr>
              <a:t>7.  ✅  Merge — when satisfied, merge just like any other 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2344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  <a:latin typeface="Calibri"/>
              </a:rPr>
              <a:t>Demo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60020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A teacher asks to add a "Manga Maniacs" club to the school website. They file an issue, Copilot writes the code, the teacher reviews and asks for a more manga-inspired description — Copilot revises. All without opening VS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58A6FF"/>
                </a:solidFill>
                <a:latin typeface="Calibri"/>
              </a:rPr>
              <a:t>Customizing &amp; Scaling with the Agents Panel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300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FB950"/>
                </a:solidFill>
                <a:latin typeface="Calibri"/>
              </a:rPr>
              <a:t>Two Key Customization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  <a:latin typeface="Calibri"/>
              </a:rPr>
              <a:t>.github/copilot-instructions.md</a:t>
            </a:r>
          </a:p>
          <a:p>
            <a:pPr/>
            <a:r>
              <a:rPr sz="1400" b="0">
                <a:solidFill>
                  <a:srgbClr val="FFFFFF"/>
                </a:solidFill>
                <a:latin typeface="Calibri"/>
              </a:rPr>
              <a:t>  Repo-specific context: architecture, conventions, standards</a:t>
            </a:r>
          </a:p>
          <a:p>
            <a:pPr/>
            <a:r>
              <a:rPr sz="1500" b="1">
                <a:solidFill>
                  <a:srgbClr val="58A6FF"/>
                </a:solidFill>
                <a:latin typeface="Calibri"/>
              </a:rPr>
              <a:t>.github/workflows/copilot-setup-steps.yml</a:t>
            </a:r>
          </a:p>
          <a:p>
            <a:pPr/>
            <a:r>
              <a:rPr sz="1400" b="0">
                <a:solidFill>
                  <a:srgbClr val="FFFFFF"/>
                </a:solidFill>
                <a:latin typeface="Calibri"/>
              </a:rPr>
              <a:t>  Pre-install tools &amp; dependencies for the agent's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344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FB950"/>
                </a:solidFill>
                <a:latin typeface="Calibri"/>
              </a:rPr>
              <a:t>Agents Panel  —  github.com/copilot/agents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577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🛠️  Assign tasks without leaving your current page</a:t>
            </a:r>
          </a:p>
          <a:p>
            <a:pPr/>
            <a:r>
              <a:rPr sz="1500" b="0">
                <a:solidFill>
                  <a:srgbClr val="FFFFFF"/>
                </a:solidFill>
                <a:latin typeface="Calibri"/>
              </a:rPr>
              <a:t>👀  Monitor multiple parallel tasks with real-time status</a:t>
            </a:r>
          </a:p>
          <a:p>
            <a:pPr/>
            <a:r>
              <a:rPr sz="1500" b="0">
                <a:solidFill>
                  <a:srgbClr val="FFFFFF"/>
                </a:solidFill>
                <a:latin typeface="Calibri"/>
              </a:rPr>
              <a:t>🔗  Jump directly to the PR when ready to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3832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B949E"/>
                </a:solidFill>
                <a:latin typeface="Calibri"/>
              </a:rPr>
              <a:t>In the exercise, learners assign 3 tasks simultaneously (social sharing, difficulty tracks, dark mode) and track them all from one panel.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58A6FF"/>
                </a:solidFill>
                <a:latin typeface="Calibri"/>
              </a:rPr>
              <a:t>Safety &amp;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300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FB950"/>
                </a:solidFill>
                <a:latin typeface="Calibri"/>
              </a:rPr>
              <a:t>Built-in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🔒  Agent only modifies its own copilot/* branch</a:t>
            </a:r>
          </a:p>
          <a:p>
            <a:pPr/>
            <a:r>
              <a:rPr sz="1400" b="0">
                <a:solidFill>
                  <a:srgbClr val="FFFFFF"/>
                </a:solidFill>
                <a:latin typeface="Calibri"/>
              </a:rPr>
              <a:t>🔥  Configurable firewall restricts internet access</a:t>
            </a:r>
          </a:p>
          <a:p>
            <a:pPr/>
            <a:r>
              <a:rPr sz="1400" b="0">
                <a:solidFill>
                  <a:srgbClr val="FFFFFF"/>
                </a:solidFill>
                <a:latin typeface="Calibri"/>
              </a:rPr>
              <a:t>🛡️  Branch protections &amp; rulesets still enforced</a:t>
            </a:r>
          </a:p>
          <a:p>
            <a:pPr/>
            <a:r>
              <a:rPr sz="1400" b="0">
                <a:solidFill>
                  <a:srgbClr val="FFFFFF"/>
                </a:solidFill>
                <a:latin typeface="Calibri"/>
              </a:rPr>
              <a:t>👁️  Only write-access users can assign; hidden issue content ignored</a:t>
            </a:r>
          </a:p>
          <a:p>
            <a:pPr/>
            <a:r>
              <a:rPr sz="1400" b="0">
                <a:solidFill>
                  <a:srgbClr val="FFFFFF"/>
                </a:solidFill>
                <a:latin typeface="Calibri"/>
              </a:rPr>
              <a:t>👤  Commits co-authored by assigner (contribution graph safe)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344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FB950"/>
                </a:solidFill>
                <a:latin typeface="Calibri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577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1.  Copilot coding agent turns issues into PRs — no editor needed</a:t>
            </a:r>
          </a:p>
          <a:p>
            <a:pPr/>
            <a:r>
              <a:rPr sz="1400" b="0">
                <a:solidFill>
                  <a:srgbClr val="FFFFFF"/>
                </a:solidFill>
                <a:latin typeface="Calibri"/>
              </a:rPr>
              <a:t>2.  Clear issues = better results (treat it like onboarding a teammate)</a:t>
            </a:r>
          </a:p>
          <a:p>
            <a:pPr/>
            <a:r>
              <a:rPr sz="1400" b="0">
                <a:solidFill>
                  <a:srgbClr val="FFFFFF"/>
                </a:solidFill>
                <a:latin typeface="Calibri"/>
              </a:rPr>
              <a:t>3.  Custom instructions + setup steps improve quality and speed</a:t>
            </a:r>
          </a:p>
          <a:p>
            <a:pPr/>
            <a:r>
              <a:rPr sz="1400" b="0">
                <a:solidFill>
                  <a:srgbClr val="FFFFFF"/>
                </a:solidFill>
                <a:latin typeface="Calibri"/>
              </a:rPr>
              <a:t>4.  Parallel task delegation via Agents Panel multiplies throughput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14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  <a:latin typeface="Calibri"/>
              </a:rPr>
              <a:t>💡  Try it yourself:  github.com/skills/expand-your-team-with-copilot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